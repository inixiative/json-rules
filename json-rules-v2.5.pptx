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e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2697480" cy="5394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" y="2331720"/>
            <a:ext cx="182880" cy="1554480"/>
          </a:xfrm>
          <a:prstGeom prst="rect">
            <a:avLst/>
          </a:prstGeom>
          <a:solidFill>
            <a:srgbClr val="85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ixiativ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40280"/>
            <a:ext cx="38404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1284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97A6B8"/>
                </a:solidFill>
                <a:latin typeface="Consolas"/>
              </a:rPr>
              <a:t>@inixiative/</a:t>
            </a:r>
            <a:r>
              <a:rPr sz="1900" b="1">
                <a:solidFill>
                  <a:srgbClr val="9D5CFF"/>
                </a:solidFill>
                <a:latin typeface="Consolas"/>
              </a:rPr>
              <a:t>json-rules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10424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2F5F8"/>
                </a:solidFill>
                <a:latin typeface="Arial"/>
              </a:rPr>
              <a:t>Protecting customer data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2F5F8"/>
                </a:solidFill>
                <a:latin typeface="Arial"/>
              </a:rPr>
              <a:t>in the age of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26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7A6B8"/>
                </a:solidFill>
                <a:latin typeface="Arial"/>
              </a:rPr>
              <a:t>A TypeScript-first JSON rules engine  ·  </a:t>
            </a:r>
            <a:r>
              <a:rPr sz="1700" b="1">
                <a:solidFill>
                  <a:srgbClr val="9D5CFF"/>
                </a:solidFill>
                <a:latin typeface="Arial"/>
              </a:rPr>
              <a:t>v2.5.0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8704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E6E80"/>
                </a:solidFill>
                <a:latin typeface="Arial"/>
              </a:rPr>
              <a:t>Created by </a:t>
            </a:r>
            <a:r>
              <a:rPr sz="1300" b="1">
                <a:solidFill>
                  <a:srgbClr val="97A6B8"/>
                </a:solidFill>
                <a:latin typeface="Arial"/>
              </a:rPr>
              <a:t>Aron Greenspan</a:t>
            </a:r>
            <a:r>
              <a:rPr sz="1300" b="0">
                <a:solidFill>
                  <a:srgbClr val="5E6E80"/>
                </a:solidFill>
                <a:latin typeface="Arial"/>
              </a:rPr>
              <a:t>   ·   an </a:t>
            </a:r>
            <a:r>
              <a:rPr sz="1300" b="1">
                <a:solidFill>
                  <a:srgbClr val="97A6B8"/>
                </a:solidFill>
                <a:latin typeface="Consolas"/>
              </a:rPr>
              <a:t>@inixiative</a:t>
            </a:r>
            <a:r>
              <a:rPr sz="1300" b="0">
                <a:solidFill>
                  <a:srgbClr val="5E6E80"/>
                </a:solidFill>
                <a:latin typeface="Arial"/>
              </a:rPr>
              <a:t> open-source project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E6E80"/>
                </a:solidFill>
                <a:latin typeface="Arial"/>
              </a:rPr>
              <a:t>Used in production at </a:t>
            </a:r>
            <a:r>
              <a:rPr sz="1300" b="1">
                <a:solidFill>
                  <a:srgbClr val="97A6B8"/>
                </a:solidFill>
                <a:latin typeface="Arial"/>
              </a:rPr>
              <a:t>UserEvidence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CFF"/>
                </a:solidFill>
                <a:latin typeface="Arial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5F8"/>
                </a:solidFill>
                <a:latin typeface="Arial"/>
              </a:rPr>
              <a:t>What is a rules engine?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97A6B8"/>
                </a:solidFill>
                <a:latin typeface="Arial"/>
              </a:rPr>
              <a:t>It lets you describe a </a:t>
            </a:r>
            <a:r>
              <a:rPr sz="1900" b="1">
                <a:solidFill>
                  <a:srgbClr val="F2F5F8"/>
                </a:solidFill>
                <a:latin typeface="Arial"/>
              </a:rPr>
              <a:t>predicate as data</a:t>
            </a:r>
            <a:r>
              <a:rPr sz="1900" b="0">
                <a:solidFill>
                  <a:srgbClr val="97A6B8"/>
                </a:solidFill>
                <a:latin typeface="Arial"/>
              </a:rPr>
              <a:t> instead of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10515600" cy="150876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52344"/>
            <a:ext cx="10113264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9D5CFF"/>
                </a:solidFill>
                <a:latin typeface="Consolas"/>
              </a:rPr>
              <a:t>"This template is publishable if the user owns it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 OR is an editor on the parent format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 AND no draft children exist."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7A6B8"/>
                </a:solidFill>
                <a:latin typeface="Arial"/>
              </a:rPr>
              <a:t>That predicate is a </a:t>
            </a:r>
            <a:r>
              <a:rPr sz="1700" b="1">
                <a:solidFill>
                  <a:srgbClr val="9D5CFF"/>
                </a:solidFill>
                <a:latin typeface="Arial"/>
              </a:rPr>
              <a:t>JSON tree</a:t>
            </a:r>
            <a:r>
              <a:rPr sz="1700" b="0">
                <a:solidFill>
                  <a:srgbClr val="97A6B8"/>
                </a:solidFill>
                <a:latin typeface="Arial"/>
              </a:rPr>
              <a:t> your service can: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5F8"/>
                </a:solidFill>
                <a:latin typeface="Arial"/>
              </a:rPr>
              <a:t>evaluate  ·  persist  ·  version  ·  render in a builder UI  ·  compile to a DB query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The rule is the artifact — everything else (forms, validators, queries) falls out of it.</a:t>
            </a:r>
          </a:p>
        </p:txBody>
      </p:sp>
      <p:pic>
        <p:nvPicPr>
          <p:cNvPr id="10" name="Picture 9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2" name="Picture 11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CFF"/>
                </a:solidFill>
                <a:latin typeface="Arial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5F8"/>
                </a:solidFill>
                <a:latin typeface="Arial"/>
              </a:rPr>
              <a:t>Why “rule as data”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383280" cy="3108960"/>
          </a:xfrm>
          <a:prstGeom prst="roundRect">
            <a:avLst/>
          </a:prstGeom>
          <a:solidFill>
            <a:srgbClr val="16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3383280" cy="109728"/>
          </a:xfrm>
          <a:prstGeom prst="rect">
            <a:avLst/>
          </a:prstGeom>
          <a:solidFill>
            <a:srgbClr val="9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5F8"/>
                </a:solidFill>
                <a:latin typeface="Arial"/>
              </a:rPr>
              <a:t>Versioning &amp;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7A6B8"/>
                </a:solidFill>
                <a:latin typeface="Arial"/>
              </a:rPr>
              <a:t>Store rules in the same DB as everything else — a jsonb column, a rules table. Get history for free.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383280" cy="3108960"/>
          </a:xfrm>
          <a:prstGeom prst="roundRect">
            <a:avLst/>
          </a:prstGeom>
          <a:solidFill>
            <a:srgbClr val="16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3383280" cy="109728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8600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5F8"/>
                </a:solidFill>
                <a:latin typeface="Arial"/>
              </a:rPr>
              <a:t>Non-engineers author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0040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7A6B8"/>
                </a:solidFill>
                <a:latin typeface="Arial"/>
              </a:rPr>
              <a:t>Ops, support, even the customer write rules. No PR, no deploy, no release 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383280" cy="3108960"/>
          </a:xfrm>
          <a:prstGeom prst="roundRect">
            <a:avLst/>
          </a:prstGeom>
          <a:solidFill>
            <a:srgbClr val="16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383280" cy="10972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5F8"/>
                </a:solidFill>
                <a:latin typeface="Arial"/>
              </a:rPr>
              <a:t>Edit in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7A6B8"/>
                </a:solidFill>
                <a:latin typeface="Arial"/>
              </a:rPr>
              <a:t>Change a predicate live. The alternative — a baked-in TS function — makes every rule a code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5F8"/>
                </a:solidFill>
                <a:latin typeface="Arial"/>
              </a:rPr>
              <a:t>In a real product, rules outnumber engineers 10:1 and change far more often than the schema.</a:t>
            </a:r>
          </a:p>
        </p:txBody>
      </p:sp>
      <p:pic>
        <p:nvPicPr>
          <p:cNvPr id="19" name="Picture 18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21" name="Picture 20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CFF"/>
                </a:solidFill>
                <a:latin typeface="Arial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5F8"/>
                </a:solidFill>
                <a:latin typeface="Arial"/>
              </a:rPr>
              <a:t>One rule, every consumer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7A6B8"/>
                </a:solidFill>
                <a:latin typeface="Arial"/>
              </a:rPr>
              <a:t>Most JS rules libraries are runtime evaluators: hand them a record, get a boolean.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7A6B8"/>
                </a:solidFill>
                <a:latin typeface="Arial"/>
              </a:rPr>
              <a:t>json-rules points the </a:t>
            </a:r>
            <a:r>
              <a:rPr sz="1600" b="1">
                <a:solidFill>
                  <a:srgbClr val="9D5CFF"/>
                </a:solidFill>
                <a:latin typeface="Arial"/>
              </a:rPr>
              <a:t>same rule</a:t>
            </a:r>
            <a:r>
              <a:rPr sz="1600" b="0">
                <a:solidFill>
                  <a:srgbClr val="97A6B8"/>
                </a:solidFill>
                <a:latin typeface="Arial"/>
              </a:rPr>
              <a:t> at the database too — “find me every record that matches.”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834640"/>
            <a:ext cx="2743200" cy="777240"/>
          </a:xfrm>
          <a:prstGeom prst="roundRect">
            <a:avLst/>
          </a:prstGeom>
          <a:solidFill>
            <a:srgbClr val="161F2B"/>
          </a:solidFill>
          <a:ln w="19050">
            <a:solidFill>
              <a:srgbClr val="9D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83464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D5CFF"/>
                </a:solidFill>
                <a:latin typeface="Consolas"/>
              </a:rPr>
              <a:t>one JSON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2606040" cy="86868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5F8"/>
                </a:solidFill>
                <a:latin typeface="Arial"/>
              </a:rPr>
              <a:t>validate a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434840"/>
            <a:ext cx="2606040" cy="86868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434840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5F8"/>
                </a:solidFill>
                <a:latin typeface="Arial"/>
              </a:rPr>
              <a:t>paginate the list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434840"/>
            <a:ext cx="2606040" cy="86868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434840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5F8"/>
                </a:solidFill>
                <a:latin typeface="Arial"/>
              </a:rPr>
              <a:t>scope an LLM’s 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434840"/>
            <a:ext cx="2606040" cy="86868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4434840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5F8"/>
                </a:solidFill>
                <a:latin typeface="Arial"/>
              </a:rPr>
              <a:t>render a builder UI</a:t>
            </a:r>
          </a:p>
        </p:txBody>
      </p:sp>
      <p:pic>
        <p:nvPicPr>
          <p:cNvPr id="17" name="Picture 16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9" name="Picture 18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7A59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5F8"/>
                </a:solidFill>
                <a:latin typeface="Arial"/>
              </a:rPr>
              <a:t>Rules are now authored by callers you don’t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2F5F8"/>
                </a:solidFill>
                <a:latin typeface="Arial"/>
              </a:rPr>
              <a:t>An LLM. A customer-facing UI. A third-party integration.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7A6B8"/>
                </a:solidFill>
                <a:latin typeface="Arial"/>
              </a:rPr>
              <a:t>The single biggest failure mode of agentic data tools is </a:t>
            </a:r>
            <a:r>
              <a:rPr sz="1700" b="1">
                <a:solidFill>
                  <a:srgbClr val="FF7A59"/>
                </a:solidFill>
                <a:latin typeface="Arial"/>
              </a:rPr>
              <a:t>leakage</a:t>
            </a:r>
            <a:r>
              <a:rPr sz="1700" b="0">
                <a:solidFill>
                  <a:srgbClr val="97A6B8"/>
                </a:solidFill>
                <a:latin typeface="Arial"/>
              </a:rPr>
              <a:t> when an agent connects directly to a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0440"/>
            <a:ext cx="10515600" cy="1417320"/>
          </a:xfrm>
          <a:prstGeom prst="roundRect">
            <a:avLst/>
          </a:prstGeom>
          <a:solidFill>
            <a:srgbClr val="161F2B"/>
          </a:solidFill>
          <a:ln w="1587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703320"/>
            <a:ext cx="9966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2F5F8"/>
                </a:solidFill>
                <a:latin typeface="Arial"/>
              </a:rPr>
              <a:t>Read-only access still means </a:t>
            </a:r>
            <a:r>
              <a:rPr sz="1800" b="1">
                <a:solidFill>
                  <a:srgbClr val="FF7A59"/>
                </a:solidFill>
                <a:latin typeface="Arial"/>
              </a:rPr>
              <a:t>every row the connection can see</a:t>
            </a:r>
            <a:r>
              <a:rPr sz="1800" b="0">
                <a:solidFill>
                  <a:srgbClr val="F2F5F8"/>
                </a:solidFill>
                <a:latin typeface="Arial"/>
              </a:rPr>
              <a:t> 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2F5F8"/>
                </a:solidFill>
                <a:latin typeface="Arial"/>
              </a:rPr>
              <a:t>which is much wider than </a:t>
            </a:r>
            <a:r>
              <a:rPr sz="1800" b="1">
                <a:solidFill>
                  <a:srgbClr val="F2F5F8"/>
                </a:solidFill>
                <a:latin typeface="Arial"/>
              </a:rPr>
              <a:t>every row this user can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A human occasionally forgets a tenantId filter. An agent generating queries at scale will eventually forget it in every possible way.</a:t>
            </a:r>
          </a:p>
        </p:txBody>
      </p:sp>
      <p:pic>
        <p:nvPicPr>
          <p:cNvPr id="10" name="Picture 9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2" name="Picture 11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9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5CFF"/>
                </a:solidFill>
                <a:latin typeface="Arial"/>
              </a:rPr>
              <a:t>THE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5F8"/>
                </a:solidFill>
                <a:latin typeface="Arial"/>
              </a:rPr>
              <a:t>Make the forbidden query unrepresentable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120640" cy="3383280"/>
          </a:xfrm>
          <a:prstGeom prst="roundRect">
            <a:avLst/>
          </a:prstGeom>
          <a:solidFill>
            <a:srgbClr val="161F2B"/>
          </a:solidFill>
          <a:ln w="127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7A59"/>
                </a:solidFill>
                <a:latin typeface="Arial"/>
              </a:rPr>
              <a:t>THE OLD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45720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F5F8"/>
                </a:solidFill>
                <a:latin typeface="Arial"/>
              </a:rPr>
              <a:t>“The code remembered to filter.”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Safety lives in discipline — every query path must remember the tenantId.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7A59"/>
                </a:solidFill>
                <a:latin typeface="Arial"/>
              </a:rPr>
              <a:t>Breaks at scale. The model does it 10,000× a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074920" cy="3383280"/>
          </a:xfrm>
          <a:prstGeom prst="roundRect">
            <a:avLst/>
          </a:prstGeom>
          <a:solidFill>
            <a:srgbClr val="161F2B"/>
          </a:solidFill>
          <a:ln w="12700">
            <a:solidFill>
              <a:srgbClr val="9D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5CFF"/>
                </a:solidFill>
                <a:latin typeface="Arial"/>
              </a:rPr>
              <a:t>THE STRUCTURAL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45720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F5F8"/>
                </a:solidFill>
                <a:latin typeface="Arial"/>
              </a:rPr>
              <a:t>“The schema can’t represent the forbidden query.”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The caller never holds a DB connection. It authors a rule against a restricted surface.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D5CFF"/>
                </a:solidFill>
                <a:latin typeface="Arial"/>
              </a:rPr>
              <a:t>Enforced at compile time, not at the database.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This is the shift ORMs made for SQL injection — applied to data access in the age of LLM-authored queries.</a:t>
            </a:r>
          </a:p>
        </p:txBody>
      </p:sp>
      <p:pic>
        <p:nvPicPr>
          <p:cNvPr id="13" name="Picture 12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5" name="Picture 14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9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5CFF"/>
                </a:solidFill>
                <a:latin typeface="Arial"/>
              </a:rPr>
              <a:t>THE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5F8"/>
                </a:solidFill>
                <a:latin typeface="Arial"/>
              </a:rPr>
              <a:t>Three primitives do the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83280" cy="2468880"/>
          </a:xfrm>
          <a:prstGeom prst="roundRect">
            <a:avLst/>
          </a:prstGeom>
          <a:solidFill>
            <a:srgbClr val="16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2468880"/>
          </a:xfrm>
          <a:prstGeom prst="rect">
            <a:avLst/>
          </a:prstGeom>
          <a:solidFill>
            <a:srgbClr val="9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9D5CFF"/>
                </a:solidFill>
                <a:latin typeface="Arial"/>
              </a:rPr>
              <a:t>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A schema-aware view over your data, anchored at a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383280" cy="2468880"/>
          </a:xfrm>
          <a:prstGeom prst="roundRect">
            <a:avLst/>
          </a:prstGeom>
          <a:solidFill>
            <a:srgbClr val="16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103120"/>
            <a:ext cx="109728" cy="2468880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37744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5A9CFF"/>
                </a:solidFill>
                <a:latin typeface="Arial"/>
              </a:rPr>
              <a:t>Narrowing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4612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A recursive restriction of a lens — per caller, composed downward.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383280" cy="2468880"/>
          </a:xfrm>
          <a:prstGeom prst="roundRect">
            <a:avLst/>
          </a:prstGeom>
          <a:solidFill>
            <a:srgbClr val="16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109728" cy="246888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37744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7A59"/>
                </a:solidFill>
                <a:latin typeface="Arial"/>
              </a:rPr>
              <a:t>Conditions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4612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The json-rules predicates the caller actually authors.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7A6B8"/>
                </a:solidFill>
                <a:latin typeface="Arial"/>
              </a:rPr>
              <a:t>Together they form </a:t>
            </a:r>
            <a:r>
              <a:rPr sz="1700" b="1">
                <a:solidFill>
                  <a:srgbClr val="F2F5F8"/>
                </a:solidFill>
                <a:latin typeface="Arial"/>
              </a:rPr>
              <a:t>two gates</a:t>
            </a:r>
            <a:r>
              <a:rPr sz="1700" b="0">
                <a:solidFill>
                  <a:srgbClr val="97A6B8"/>
                </a:solidFill>
                <a:latin typeface="Arial"/>
              </a:rPr>
              <a:t>:  a </a:t>
            </a:r>
            <a:r>
              <a:rPr sz="1700" b="1">
                <a:solidFill>
                  <a:srgbClr val="9D5CFF"/>
                </a:solidFill>
                <a:latin typeface="Arial"/>
              </a:rPr>
              <a:t>schema gate</a:t>
            </a:r>
            <a:r>
              <a:rPr sz="1700" b="0">
                <a:solidFill>
                  <a:srgbClr val="97A6B8"/>
                </a:solidFill>
                <a:latin typeface="Arial"/>
              </a:rPr>
              <a:t> (which fields/values exist) and a </a:t>
            </a:r>
            <a:r>
              <a:rPr sz="1700" b="1">
                <a:solidFill>
                  <a:srgbClr val="5A9CFF"/>
                </a:solidFill>
                <a:latin typeface="Arial"/>
              </a:rPr>
              <a:t>data gate</a:t>
            </a:r>
            <a:r>
              <a:rPr sz="1700" b="0">
                <a:solidFill>
                  <a:srgbClr val="97A6B8"/>
                </a:solidFill>
                <a:latin typeface="Arial"/>
              </a:rPr>
              <a:t> (which rows are in scope).</a:t>
            </a:r>
          </a:p>
        </p:txBody>
      </p:sp>
      <p:pic>
        <p:nvPicPr>
          <p:cNvPr id="19" name="Picture 18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21" name="Picture 20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9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5CFF"/>
                </a:solidFill>
                <a:latin typeface="Arial"/>
              </a:rPr>
              <a:t>PRIMITIVE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F5F8"/>
                </a:solidFill>
                <a:latin typeface="Arial"/>
              </a:rPr>
              <a:t>Lens — a schema-aware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Describe your data — one source or many — as a typed surface anchored at a model. Built on the </a:t>
            </a:r>
            <a:r>
              <a:rPr sz="1500" b="1">
                <a:solidFill>
                  <a:srgbClr val="9D5CFF"/>
                </a:solidFill>
                <a:latin typeface="Consolas"/>
              </a:rPr>
              <a:t>FieldMap</a:t>
            </a:r>
            <a:r>
              <a:rPr sz="1500" b="0">
                <a:solidFill>
                  <a:srgbClr val="97A6B8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515600" cy="196596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660904"/>
            <a:ext cx="10113264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5E6E80"/>
                </a:solidFill>
                <a:latin typeface="Consolas"/>
              </a:rPr>
              <a:t>// Platform owner: the full lens over the Prisma map. No restrictions.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const platformLens: Lens = createLens({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9D5CFF"/>
                </a:solidFill>
                <a:latin typeface="Consolas"/>
              </a:rPr>
              <a:t>  maps: { prisma: prismaMap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9D5CFF"/>
                </a:solidFill>
                <a:latin typeface="Consolas"/>
              </a:rPr>
              <a:t>  mapName: 'prisma',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9D5CFF"/>
                </a:solidFill>
                <a:latin typeface="Consolas"/>
              </a:rPr>
              <a:t>  model: 'Account',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The lens knows which fields live on which model and which relations connect them — </a:t>
            </a:r>
            <a:r>
              <a:rPr sz="1500" b="0">
                <a:solidFill>
                  <a:srgbClr val="97A6B8"/>
                </a:solidFill>
                <a:latin typeface="Arial"/>
              </a:rPr>
              <a:t>so the same rule can </a:t>
            </a:r>
            <a:r>
              <a:rPr sz="1500" b="1">
                <a:solidFill>
                  <a:srgbClr val="F2F5F8"/>
                </a:solidFill>
                <a:latin typeface="Arial"/>
              </a:rPr>
              <a:t>compile to Prisma or SQL.</a:t>
            </a:r>
          </a:p>
        </p:txBody>
      </p:sp>
      <p:pic>
        <p:nvPicPr>
          <p:cNvPr id="10" name="Picture 9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2" name="Picture 11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CFF"/>
                </a:solidFill>
                <a:latin typeface="Arial"/>
              </a:rPr>
              <a:t>PRIMITIVE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F5F8"/>
                </a:solidFill>
                <a:latin typeface="Arial"/>
              </a:rPr>
              <a:t>Narrowing — restrict fields +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324612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29384"/>
            <a:ext cx="10113264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5E6E80"/>
                </a:solidFill>
                <a:latin typeface="Consolas"/>
              </a:rPr>
              <a:t>// Tenant: hide internal fields, scope every Account row to this tenant.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const tenantLens: LensNarrowing = {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5A9CFF"/>
                </a:solidFill>
                <a:latin typeface="Consolas"/>
              </a:rPr>
              <a:t>  parent: platformLens,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  root: { omits: ['internalNotes'] },               // schema gate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  mapDefaults: { prisma: { models: { Account: {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9D5CFF"/>
                </a:solidFill>
                <a:latin typeface="Consolas"/>
              </a:rPr>
              <a:t>    where: { field: 'tenantId', operator: Operator.equals,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9D5CFF"/>
                </a:solidFill>
                <a:latin typeface="Consolas"/>
              </a:rPr>
              <a:t>            value: currentTenantId },               // data gate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  } } }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D5CFF"/>
                </a:solidFill>
                <a:latin typeface="Arial"/>
              </a:rPr>
              <a:t>schema narrowing</a:t>
            </a:r>
            <a:r>
              <a:rPr sz="1450" b="0">
                <a:solidFill>
                  <a:srgbClr val="97A6B8"/>
                </a:solidFill>
                <a:latin typeface="Arial"/>
              </a:rPr>
              <a:t> (picks / omits / enumPicks / enumOmits) controls which fields are visible.  </a:t>
            </a:r>
            <a:r>
              <a:rPr sz="1500" b="1">
                <a:solidFill>
                  <a:srgbClr val="5A9CFF"/>
                </a:solidFill>
                <a:latin typeface="Arial"/>
              </a:rPr>
              <a:t>data narrowing</a:t>
            </a:r>
            <a:r>
              <a:rPr sz="1450" b="0">
                <a:solidFill>
                  <a:srgbClr val="97A6B8"/>
                </a:solidFill>
                <a:latin typeface="Arial"/>
              </a:rPr>
              <a:t> (where) controls which rows are in scope — anchored, not blindly AND’d at root.</a:t>
            </a:r>
          </a:p>
        </p:txBody>
      </p:sp>
      <p:pic>
        <p:nvPicPr>
          <p:cNvPr id="9" name="Picture 8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1" name="Picture 10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7A59"/>
                </a:solidFill>
                <a:latin typeface="Arial"/>
              </a:rPr>
              <a:t>PRIMITIVE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F5F8"/>
                </a:solidFill>
                <a:latin typeface="Arial"/>
              </a:rPr>
              <a:t>Conditions — what the caller authors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The caller writes a predicate against the narrowed lens — nothing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15600" cy="233172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478024"/>
            <a:ext cx="10113264" cy="2039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5E6E80"/>
                </a:solidFill>
                <a:latin typeface="Consolas"/>
              </a:rPr>
              <a:t>// Customer: only these fields, and ownerId = me at the root.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const customerLens: LensNarrowing = {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5A9CFF"/>
                </a:solidFill>
                <a:latin typeface="Consolas"/>
              </a:rPr>
              <a:t>  parent: tenantLens,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  root: {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    picks: ['id', 'name', 'plan', 'createdAt'],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9D5CFF"/>
                </a:solidFill>
                <a:latin typeface="Consolas"/>
              </a:rPr>
              <a:t>    where: { field: 'ownerId', operator: Operator.equals, value: me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 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A malformed rule fails with a </a:t>
            </a:r>
            <a:r>
              <a:rPr sz="1500" b="1">
                <a:solidFill>
                  <a:srgbClr val="F2F5F8"/>
                </a:solidFill>
                <a:latin typeface="Arial"/>
              </a:rPr>
              <a:t>path and a reason</a:t>
            </a:r>
            <a:r>
              <a:rPr sz="1500" b="0">
                <a:solidFill>
                  <a:srgbClr val="97A6B8"/>
                </a:solidFill>
                <a:latin typeface="Arial"/>
              </a:rPr>
              <a:t>. A false check() returns </a:t>
            </a:r>
            <a:r>
              <a:rPr sz="1500" b="1">
                <a:solidFill>
                  <a:srgbClr val="F2F5F8"/>
                </a:solidFill>
                <a:latin typeface="Arial"/>
              </a:rPr>
              <a:t>which clause failed and why</a:t>
            </a:r>
            <a:r>
              <a:rPr sz="1500" b="0">
                <a:solidFill>
                  <a:srgbClr val="97A6B8"/>
                </a:solidFill>
                <a:latin typeface="Arial"/>
              </a:rPr>
              <a:t> — not a silent boolean.</a:t>
            </a:r>
          </a:p>
        </p:txBody>
      </p:sp>
      <p:pic>
        <p:nvPicPr>
          <p:cNvPr id="10" name="Picture 9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2" name="Picture 11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9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5CFF"/>
                </a:solidFill>
                <a:latin typeface="Arial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Arial"/>
              </a:rPr>
              <a:t>Compose: lens → narrowing → narrowing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27632"/>
            <a:ext cx="10515600" cy="416052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73936"/>
            <a:ext cx="10113264" cy="3867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5E6E80"/>
                </a:solidFill>
                <a:latin typeface="Consolas"/>
              </a:rPr>
              <a:t>import { createLens, applyLens, toPrisma, Operator } from '@inixiative/json-rules';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/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5A9CFF"/>
                </a:solidFill>
                <a:latin typeface="Consolas"/>
              </a:rPr>
              <a:t>const platform = createLens({                            // 1 · lens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  maps: { prisma: prismaMap }, mapName: 'prisma', model: 'Account',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});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5A9CFF"/>
                </a:solidFill>
                <a:latin typeface="Consolas"/>
              </a:rPr>
              <a:t>const tenant: LensNarrowing = {                          // 2 · narrowing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9D5CFF"/>
                </a:solidFill>
                <a:latin typeface="Consolas"/>
              </a:rPr>
              <a:t>  parent: platform,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  root: { omits: ['internalNotes']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  mapDefaults: { prisma: { models: { Account: {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    where: { field: 'tenantId', operator: Operator.equals, value: tid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  } } }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};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5A9CFF"/>
                </a:solidFill>
                <a:latin typeface="Consolas"/>
              </a:rPr>
              <a:t>const customer: LensNarrowing = {                        // 3 · narrowing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9D5CFF"/>
                </a:solidFill>
                <a:latin typeface="Consolas"/>
              </a:rPr>
              <a:t>  parent: tenant,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  root: { picks: ['id', 'name', 'plan'],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          where: { field: 'ownerId', operator: Operator.equals, value: uid }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};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/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850AFF"/>
                </a:solidFill>
                <a:latin typeface="Consolas"/>
              </a:rPr>
              <a:t>const plan = toPrisma(applyLens(rule, customer));        // compose + compile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7A6B8"/>
                </a:solidFill>
                <a:latin typeface="Arial"/>
              </a:rPr>
              <a:t>Each link sets </a:t>
            </a:r>
            <a:r>
              <a:rPr sz="1350" b="1">
                <a:solidFill>
                  <a:srgbClr val="9D5CFF"/>
                </a:solidFill>
                <a:latin typeface="Consolas"/>
              </a:rPr>
              <a:t>parent</a:t>
            </a:r>
            <a:r>
              <a:rPr sz="1350" b="0">
                <a:solidFill>
                  <a:srgbClr val="97A6B8"/>
                </a:solidFill>
                <a:latin typeface="Arial"/>
              </a:rPr>
              <a:t> to the one above; </a:t>
            </a:r>
            <a:r>
              <a:rPr sz="1350" b="1">
                <a:solidFill>
                  <a:srgbClr val="F2F5F8"/>
                </a:solidFill>
                <a:latin typeface="Consolas"/>
              </a:rPr>
              <a:t>applyLens</a:t>
            </a:r>
            <a:r>
              <a:rPr sz="1350" b="0">
                <a:solidFill>
                  <a:srgbClr val="97A6B8"/>
                </a:solidFill>
                <a:latin typeface="Arial"/>
              </a:rPr>
              <a:t> walks the whole chain and injects every restriction at its anchor.</a:t>
            </a:r>
          </a:p>
        </p:txBody>
      </p:sp>
      <p:pic>
        <p:nvPicPr>
          <p:cNvPr id="9" name="Picture 8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1" name="Picture 10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9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5CFF"/>
                </a:solidFill>
                <a:latin typeface="Arial"/>
              </a:rPr>
              <a:t>HOW IT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8"/>
                </a:solidFill>
                <a:latin typeface="Arial"/>
              </a:rPr>
              <a:t>Conditions enforced — applyLens injects the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7A6B8"/>
                </a:solidFill>
                <a:latin typeface="Arial"/>
              </a:rPr>
              <a:t>Not a claim — here’s the actual rewrite the compiler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10515600" cy="150876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57984"/>
            <a:ext cx="10113264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5E6E80"/>
                </a:solidFill>
                <a:latin typeface="Consolas"/>
              </a:rPr>
              <a:t>// ROOT · the caller's rule touches only allowed fields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F2F5F8"/>
                </a:solidFill>
                <a:latin typeface="Consolas"/>
              </a:rPr>
              <a:t>applyLens(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F2F5F8"/>
                </a:solidFill>
                <a:latin typeface="Consolas"/>
              </a:rPr>
              <a:t>  { field: 'email', operator: Operator.equals, value: 'x' },        // the rule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9D5CFF"/>
                </a:solidFill>
                <a:latin typeface="Consolas"/>
              </a:rPr>
              <a:t>  { parent: lens, root: { where: { field: 'deletedAt', operator: Operator.isEmpty } }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850AFF"/>
                </a:solidFill>
                <a:latin typeface="Consolas"/>
              </a:rPr>
              <a:t>)  →  { all: [ { deletedAt isEmpty }, { email equals 'x' } ]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10515600" cy="192024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849624"/>
            <a:ext cx="10113264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5E6E80"/>
                </a:solidFill>
                <a:latin typeface="Consolas"/>
              </a:rPr>
              <a:t>// ANCHORED · rule walks  posts → comments ;  the where rides the traversal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9D5CFF"/>
                </a:solidFill>
                <a:latin typeface="Consolas"/>
              </a:rPr>
              <a:t>mapDefaults: { prisma: { models: { Comment: { where: { deletedAt isEmpty } } } } }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850AFF"/>
                </a:solidFill>
                <a:latin typeface="Consolas"/>
              </a:rPr>
              <a:t>  →  posts.any → comments.any: { all: [ { deletedAt isEmpty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850AFF"/>
                </a:solidFill>
                <a:latin typeface="Consolas"/>
              </a:rPr>
              <a:t>                                       { body contains 'foo' } ] }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F2F5F8"/>
                </a:solidFill>
                <a:latin typeface="Consolas"/>
              </a:rPr>
              <a:t>// injected INSIDE the comments subtree — not blindly AND'd at root.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50">
                <a:solidFill>
                  <a:srgbClr val="F2F5F8"/>
                </a:solidFill>
                <a:latin typeface="Consolas"/>
              </a:rPr>
              <a:t>// rule never visits Comment?  the constraint is dropped — no-op.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7A6B8"/>
                </a:solidFill>
                <a:latin typeface="Arial"/>
              </a:rPr>
              <a:t>The where AND’s in at the scope it’s anchored to. A rule touching only visible fields still can’t escape it.</a:t>
            </a:r>
          </a:p>
        </p:txBody>
      </p:sp>
      <p:pic>
        <p:nvPicPr>
          <p:cNvPr id="12" name="Picture 11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4" name="Picture 13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9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5CFF"/>
                </a:solidFill>
                <a:latin typeface="Arial"/>
              </a:rPr>
              <a:t>HOW IT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2F5F8"/>
                </a:solidFill>
                <a:latin typeface="Arial"/>
              </a:rPr>
              <a:t>Directionality — narrowings compose downward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2514600" cy="1325880"/>
          </a:xfrm>
          <a:prstGeom prst="roundRect">
            <a:avLst/>
          </a:prstGeom>
          <a:solidFill>
            <a:srgbClr val="161F2B"/>
          </a:solidFill>
          <a:ln w="19050">
            <a:solidFill>
              <a:srgbClr val="9D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9D5CFF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2724912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7A6B8"/>
                </a:solidFill>
                <a:latin typeface="Arial"/>
              </a:rPr>
              <a:t>full 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8416" y="2304288"/>
            <a:ext cx="502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5E6E80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67328" y="2057400"/>
            <a:ext cx="2514600" cy="1325880"/>
          </a:xfrm>
          <a:prstGeom prst="roundRect">
            <a:avLst/>
          </a:prstGeom>
          <a:solidFill>
            <a:srgbClr val="161F2B"/>
          </a:solidFill>
          <a:ln w="19050">
            <a:solidFill>
              <a:srgbClr val="5A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176272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5A9CFF"/>
                </a:solidFill>
                <a:latin typeface="Arial"/>
              </a:rPr>
              <a:t>Tenant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8" y="2724912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7A6B8"/>
                </a:solidFill>
                <a:latin typeface="Arial"/>
              </a:rPr>
              <a:t>hide fields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7A6B8"/>
                </a:solidFill>
                <a:latin typeface="Arial"/>
              </a:rPr>
              <a:t>scope tenantId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2304288"/>
            <a:ext cx="502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5E6E80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5976" y="2057400"/>
            <a:ext cx="2514600" cy="1325880"/>
          </a:xfrm>
          <a:prstGeom prst="roundRect">
            <a:avLst/>
          </a:prstGeom>
          <a:solidFill>
            <a:srgbClr val="161F2B"/>
          </a:solidFill>
          <a:ln w="1905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5976" y="2176272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7A59"/>
                </a:solidFill>
                <a:latin typeface="Arial"/>
              </a:rP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724912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7A6B8"/>
                </a:solidFill>
                <a:latin typeface="Arial"/>
              </a:rPr>
              <a:t>fewer fields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7A6B8"/>
                </a:solidFill>
                <a:latin typeface="Arial"/>
              </a:rPr>
              <a:t>ownerId = 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1" y="2304288"/>
            <a:ext cx="502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5E6E80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4624" y="2057400"/>
            <a:ext cx="2514600" cy="1325880"/>
          </a:xfrm>
          <a:prstGeom prst="roundRect">
            <a:avLst/>
          </a:prstGeom>
          <a:solidFill>
            <a:srgbClr val="161F2B"/>
          </a:solidFill>
          <a:ln w="19050">
            <a:solidFill>
              <a:srgbClr val="C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4624" y="2176272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97BFF"/>
                </a:solidFill>
                <a:latin typeface="Arial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2724912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7A6B8"/>
                </a:solidFill>
                <a:latin typeface="Arial"/>
              </a:rPr>
              <a:t>one more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7A6B8"/>
                </a:solidFill>
                <a:latin typeface="Arial"/>
              </a:rPr>
              <a:t>narrowing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49377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5F8"/>
                </a:solidFill>
                <a:latin typeface="Arial"/>
              </a:rPr>
              <a:t>Each link only intersects the one above.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7A6B8"/>
                </a:solidFill>
                <a:latin typeface="Arial"/>
              </a:rPr>
              <a:t>A child can’t re-add an omitted field, enumerate an excluded enum value, or loosen a parent’s where.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D5CFF"/>
                </a:solidFill>
                <a:latin typeface="Arial"/>
              </a:rPr>
              <a:t>validateNarrowing() enforces it at construction — no escape hatch.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566160"/>
            <a:ext cx="5349240" cy="224028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3712463"/>
            <a:ext cx="4946903" cy="1947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5E6E80"/>
                </a:solidFill>
                <a:latin typeface="Consolas"/>
              </a:rPr>
              <a:t>// child tries to widen what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5E6E80"/>
                </a:solidFill>
                <a:latin typeface="Consolas"/>
              </a:rPr>
              <a:t>// an ancestor locked down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validateNarrowing({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5A9CFF"/>
                </a:solidFill>
                <a:latin typeface="Consolas"/>
              </a:rPr>
              <a:t>  parent,   // picks ['id','email']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  root: { picks: ['password'] },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>});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2F5F8"/>
                </a:solidFill>
                <a:latin typeface="Consolas"/>
              </a:rPr>
              <a:t/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F7A59"/>
                </a:solidFill>
                <a:latin typeface="Consolas"/>
              </a:rPr>
              <a:t>//  ✗  throws: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FF7A59"/>
                </a:solidFill>
                <a:latin typeface="Consolas"/>
              </a:rPr>
              <a:t>//  'password' is not visible</a:t>
            </a:r>
          </a:p>
        </p:txBody>
      </p:sp>
      <p:pic>
        <p:nvPicPr>
          <p:cNvPr id="24" name="Picture 23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26" name="Picture 25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9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5CFF"/>
                </a:solidFill>
                <a:latin typeface="Arial"/>
              </a:rPr>
              <a:t>HOW IT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5F8"/>
                </a:solidFill>
                <a:latin typeface="Arial"/>
              </a:rPr>
              <a:t>Two gates an adversarial rule cannot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5120640" cy="3291840"/>
          </a:xfrm>
          <a:prstGeom prst="roundRect">
            <a:avLst/>
          </a:prstGeom>
          <a:solidFill>
            <a:srgbClr val="161F2B"/>
          </a:solidFill>
          <a:ln w="15875">
            <a:solidFill>
              <a:srgbClr val="9D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D5CFF"/>
                </a:solidFill>
                <a:latin typeface="Arial"/>
              </a:rPr>
              <a:t>THE SCHEMA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4572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5F8"/>
                </a:solidFill>
                <a:latin typeface="Arial"/>
              </a:rPr>
              <a:t>Refuses any rule that names something outside the lens.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The caller literally can’t formulate a query against a narrowed-away field.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D5CFF"/>
                </a:solidFill>
                <a:latin typeface="Consolas"/>
              </a:rPr>
              <a:t>checkRuleAgainstLens() → { ok, violations[path, reason] }. Reject before compiling.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074920" cy="3291840"/>
          </a:xfrm>
          <a:prstGeom prst="roundRect">
            <a:avLst/>
          </a:prstGeom>
          <a:solidFill>
            <a:srgbClr val="161F2B"/>
          </a:solidFill>
          <a:ln w="15875">
            <a:solidFill>
              <a:srgbClr val="5A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A9CFF"/>
                </a:solidFill>
                <a:latin typeface="Arial"/>
              </a:rPr>
              <a:t>THE DATA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80360"/>
            <a:ext cx="4572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2F5F8"/>
                </a:solidFill>
                <a:latin typeface="Arial"/>
              </a:rPr>
              <a:t>AND’s every where in the chain into the compiled plan.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Even a valid rule touching only visible fields can’t return rows the chain doesn’t admit.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9CFF"/>
                </a:solidFill>
                <a:latin typeface="Consolas"/>
              </a:rPr>
              <a:t>applyLens() rides each where at the scope it was anchored 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F5F8"/>
                </a:solidFill>
                <a:latin typeface="Arial"/>
              </a:rPr>
              <a:t>The worst an adversarial rule can do is reach the bounds of its own narrowing — exactly the boundary you want.</a:t>
            </a:r>
          </a:p>
        </p:txBody>
      </p:sp>
      <p:pic>
        <p:nvPicPr>
          <p:cNvPr id="13" name="Picture 12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5" name="Picture 14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46304" cy="384048"/>
          </a:xfrm>
          <a:prstGeom prst="rect">
            <a:avLst/>
          </a:prstGeom>
          <a:solidFill>
            <a:srgbClr val="5A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A9CFF"/>
                </a:solidFill>
                <a:latin typeface="Arial"/>
              </a:rPr>
              <a:t>BONUS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5F8"/>
                </a:solidFill>
                <a:latin typeface="Arial"/>
              </a:rPr>
              <a:t>One rule, across many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7A6B8"/>
                </a:solidFill>
                <a:latin typeface="Arial"/>
              </a:rPr>
              <a:t>Data lives in more than one place — app DB, CRM, warehouse. </a:t>
            </a:r>
            <a:r>
              <a:rPr sz="1600" b="1">
                <a:solidFill>
                  <a:srgbClr val="9D5CFF"/>
                </a:solidFill>
                <a:latin typeface="Consolas"/>
              </a:rPr>
              <a:t>FieldMapSet</a:t>
            </a:r>
            <a:r>
              <a:rPr sz="1600" b="0">
                <a:solidFill>
                  <a:srgbClr val="97A6B8"/>
                </a:solidFill>
                <a:latin typeface="Arial"/>
              </a:rPr>
              <a:t> + </a:t>
            </a:r>
            <a:r>
              <a:rPr sz="1600" b="1">
                <a:solidFill>
                  <a:srgbClr val="9D5CFF"/>
                </a:solidFill>
                <a:latin typeface="Consolas"/>
              </a:rPr>
              <a:t>Bridge</a:t>
            </a:r>
            <a:r>
              <a:rPr sz="1600" b="0">
                <a:solidFill>
                  <a:srgbClr val="97A6B8"/>
                </a:solidFill>
                <a:latin typeface="Arial"/>
              </a:rPr>
              <a:t> let one rule address foreign data like any relation: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0515600" cy="100584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889504"/>
            <a:ext cx="1011326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9D5CFF"/>
                </a:solidFill>
                <a:latin typeface="Consolas"/>
              </a:rPr>
              <a:t>“fan users in tech whose CRM contact opted into the launch campaign”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F2F5F8"/>
                </a:solidFill>
                <a:latin typeface="Consolas"/>
              </a:rPr>
              <a:t>   salesforce:Contact.industry   reads like any other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7A6B8"/>
                </a:solidFill>
                <a:latin typeface="Arial"/>
              </a:rPr>
              <a:t>The compiler is </a:t>
            </a:r>
            <a:r>
              <a:rPr sz="1600" b="1">
                <a:solidFill>
                  <a:srgbClr val="F2F5F8"/>
                </a:solidFill>
                <a:latin typeface="Arial"/>
              </a:rPr>
              <a:t>honest about the boundary</a:t>
            </a:r>
            <a:r>
              <a:rPr sz="1500" b="0">
                <a:solidFill>
                  <a:srgbClr val="97A6B8"/>
                </a:solidFill>
                <a:latin typeface="Arial"/>
              </a:rPr>
              <a:t>: toPrisma emits {} and toSql emits TRUE for any predicate that crosses a bridge — </a:t>
            </a:r>
            <a:r>
              <a:rPr sz="1500" b="0">
                <a:solidFill>
                  <a:srgbClr val="97A6B8"/>
                </a:solidFill>
                <a:latin typeface="Arial"/>
              </a:rPr>
              <a:t>the caller hydrates the foreign side and re-checks.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97A6B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7A6B8"/>
                </a:solidFill>
                <a:latin typeface="Arial"/>
              </a:rPr>
              <a:t>No faked joins. No silent over-fetch. If a backend can’t represent a rule, it throws at compile time — never at the database.</a:t>
            </a:r>
          </a:p>
        </p:txBody>
      </p:sp>
      <p:pic>
        <p:nvPicPr>
          <p:cNvPr id="10" name="Picture 9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2" name="Picture 11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82880" cy="1097280"/>
          </a:xfrm>
          <a:prstGeom prst="rect">
            <a:avLst/>
          </a:prstGeom>
          <a:solidFill>
            <a:srgbClr val="850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868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2F5F8"/>
                </a:solidFill>
                <a:latin typeface="Arial"/>
              </a:rPr>
              <a:t>Try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6583680" cy="123444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2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95144"/>
            <a:ext cx="6181344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9D5CFF"/>
                </a:solidFill>
                <a:latin typeface="Consolas"/>
              </a:rPr>
              <a:t>npm install @inixiative/json-rules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5E6E80"/>
                </a:solidFill>
                <a:latin typeface="Consolas"/>
              </a:rPr>
              <a:t># or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9D5CFF"/>
                </a:solidFill>
                <a:latin typeface="Consolas"/>
              </a:rPr>
              <a:t>bun install @inixiative/json-rules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A9CFF"/>
                </a:solidFill>
                <a:latin typeface="Arial"/>
              </a:rPr>
              <a:t>WHAT’S 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5212080" cy="1600200"/>
          </a:xfrm>
          <a:prstGeom prst="roundRect">
            <a:avLst/>
          </a:prstGeom>
          <a:solidFill>
            <a:srgbClr val="16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7083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F5F8"/>
                </a:solidFill>
                <a:latin typeface="Arial"/>
              </a:rPr>
              <a:t>Rules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92040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7A6B8"/>
                </a:solidFill>
                <a:latin typeface="Arial"/>
              </a:rPr>
              <a:t>@inixiative/rules-builder — a visual filter builder driven by the operator catalogs. No hand-rolled switch statements.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60520"/>
            <a:ext cx="5212080" cy="1600200"/>
          </a:xfrm>
          <a:prstGeom prst="roundRect">
            <a:avLst/>
          </a:prstGeom>
          <a:solidFill>
            <a:srgbClr val="16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7083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F5F8"/>
                </a:solidFill>
                <a:latin typeface="Arial"/>
              </a:rPr>
              <a:t>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892040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7A6B8"/>
                </a:solidFill>
                <a:latin typeface="Arial"/>
              </a:rPr>
              <a:t>Runtime schema that lives in your DB — tenant-defined fields, hydrated before a rule is validated against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253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E6E80"/>
                </a:solidFill>
                <a:latin typeface="Arial"/>
              </a:rPr>
              <a:t>Created by </a:t>
            </a:r>
            <a:r>
              <a:rPr sz="1100" b="1">
                <a:solidFill>
                  <a:srgbClr val="97A6B8"/>
                </a:solidFill>
                <a:latin typeface="Arial"/>
              </a:rPr>
              <a:t>Aron Greenspan</a:t>
            </a:r>
            <a:r>
              <a:rPr sz="1100" b="0">
                <a:solidFill>
                  <a:srgbClr val="5E6E80"/>
                </a:solidFill>
                <a:latin typeface="Arial"/>
              </a:rPr>
              <a:t>  ·  an @inixiative open-source project  ·  used in production at </a:t>
            </a:r>
            <a:r>
              <a:rPr sz="1100" b="1">
                <a:solidFill>
                  <a:srgbClr val="97A6B8"/>
                </a:solidFill>
                <a:latin typeface="Arial"/>
              </a:rPr>
              <a:t>UserEvidence</a:t>
            </a:r>
          </a:p>
        </p:txBody>
      </p:sp>
      <p:pic>
        <p:nvPicPr>
          <p:cNvPr id="15" name="Picture 14" descr="inixiat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364224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2144" y="63550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7A6B8"/>
                </a:solidFill>
                <a:latin typeface="Consolas"/>
              </a:rPr>
              <a:t>@inixiative/json-rules</a:t>
            </a:r>
            <a:r>
              <a:rPr sz="1000" b="0">
                <a:solidFill>
                  <a:srgbClr val="5E6E80"/>
                </a:solidFill>
                <a:latin typeface="Consolas"/>
              </a:rPr>
              <a:t>   v2.5.0</a:t>
            </a:r>
          </a:p>
        </p:txBody>
      </p:sp>
      <p:pic>
        <p:nvPicPr>
          <p:cNvPr id="17" name="Picture 16" descr="ue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96228"/>
            <a:ext cx="1051560" cy="2103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